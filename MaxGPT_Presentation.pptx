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context used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600" u="none">
                    <a:solidFill>
                      <a:srgbClr val="FFFFFF"/>
                    </a:solidFill>
                    <a:latin typeface="Trebuchet M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Base MaxGPT-3</c:v>
                  </c:pt>
                  <c:pt idx="1">
                    <c:v>SFT MaxGPT-3.5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25</c:v>
                </c:pt>
                <c:pt idx="1">
                  <c:v>92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600" u="none">
                  <a:solidFill>
                    <a:srgbClr val="FFFFFF"/>
                  </a:solidFill>
                  <a:latin typeface="Trebuchet M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1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3341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FA3BF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E293B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Hook: I trained four conversational language models entirely from scratch in PyTorch, no pretrained weights, no Hugging Face transformers library. I wrote the tokenizer, the transformer, and the training loop myself. This is the story of what happens when you scale a tiny model 10x, and then fine-tune it into a chatbot. Start confident, set the scope: four models, 23 million up to 235 million parameters.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problem I set out to solve was my own understanding. Everyone uses these models, almost nobody has built one. My three goals: (1) understand by building every piece from scratch; (2) demonstrate scaling, same architecture, grown 10x; (3) produce a real chatbot plus a web app. Emphasize: this is a learning-and-demonstration project, and the 'product' is both the models and the understanding.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questions. Why is AI the right tool? Because language generation can't be done with hand-written rules, it needs a model that learns patterns from data. That's the definition of a deep-learning problem. Why from scratch instead of the OpenAI API? Because the API hides everything; building it myself is what proves I understand it. And small models are genuinely useful, they run on a laptop or phone, cheaply and privately.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core of the project. Same transformer architecture, scaled three times: 23 million, 110 million, 235 million parameters, about 10x from first to last. MaxGPT-1 just gets coherent English. MaxGPT-2 learns the chat format. MaxGPT-3 is trained on a seven-dataset, five-billion-token mix for almost a week and becomes a real chatbot. MaxGPT-3.5 is MaxGPT-3 fine-tuned on chat-only data. Total compute ~28 exaFLOPs, sounds huge, but GPT-3 used about 10,000 times more. Mine ran on one gaming GPU.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Feature one: the tokenizer. It breaks text into sub-word tokens using byte-pair encoding, trained from scratch with a 16,000-token vocabulary. My naive first version took over 20 hours just for data prep, because it rescanned the whole token list on every merge. I rebuilt it with a doubly-linked list, so merging two tokens is O(1), and a min-heap to always grab the next merge in O(log n). Result: 31x faster training and 465x faster encoding, from 1100 seconds per chunk down to about 2 seconds. Without this, MaxGPT-3's data prep would've taken weeks instead of hours.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Feature two: the transformer itself, written by hand. This is the attention mechanism, the heart of the model. I project the input into query, key, and value vectors, compute how much each token should attend to every earlier token, apply a causal mask so it can't peek at future tokens, softmax into weights, and take a weighted sum. On the right are all the pieces I built: multi-head attention, the feed-forward network with GELU, pre-norm and residual connections, learned positional embeddings, sixteen blocks stacked. I can toggle a flag to run this exact manual math, or the optimized Flash-attention path. I understand every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Feature three: the web app, built in Streamlit. It has a chat mode with real multi-turn memory, and a compare mode that races models side by side on the same prompt with live token-by-token streaming, that typing effect you see in ChatGPT. A tricky part: all four models share the same class names, so I wrote an import-collision loader that namespaces each one so they can all run in a single app. On the right is a mock of compare mode, and the next slide shows a real four-way comparison.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single prompt captures the entire project. MaxGPT-1: total word salad. MaxGPT-2: grammatical and recipe-shaped, but it suggests brownies with tofu and ground pork, and bleeds the training format. MaxGPT-3: a genuinely real-looking recipe, it just wanders off into French étouffée instead of brownies. MaxGPT-3.5, the fine-tuned one: clean assistant formatting, and it actually stays on brownies. None of them get a correct recipe, 235M params is still tiny, but you can SEE both the scaling story and the fine-tuning shift in one screenshot. This is my favorite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went one step past the assignment: a real fine-tuning phase plus a rigorous evaluation. SFT means continuing to train MaxGPT-3 on chat-only data, but masking the loss so it only learns from the assistant's replies. Then, and this is the part I'm proud of, I evaluated it honestly, with blind multi-sample scoring across checkpoints, not just cherry-picked examples. The headline result: on cross-turn reference resolution, resolving 'feed HIM' back to the puppy, the base model succeeded 25% of the time, the fine-tuned one 92%. But it's a trade-off: the fine-tuned model is more verbose. I reported that honestly rather than overselling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engineering means real debugging. Four challenges. One: my GPU's PyTorch build shipped without Flash Attention, I diagnosed it, forced a different attention backend, then switched to Linux through WSL2 to get the fast version. Two: a sneaky bug where one whole dataset ended up in validation, so the model trained on only stories and spat gibberish at chat prompts, fixed by splitting each dataset separately. Three: during fine-tuning, my loss mask matched zero tokens because byte-pair encoding had eaten my role markers, fixed by matching at the byte level. Four: I kept hitting the 12 GB memory ceiling, fixed by loading checkpoints to CPU first. Be ready to go deeper on any of these if asked.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I made a version 2: a bigger vocabulary so each token means more; modern architecture pieces, RMSNorm, SwiGLU, RoPE, which I deliberately skipped to keep a clean scale-only comparison; cleaner fine-tuning data plus replaying pre-train text so it doesn't lose its general skills; resume-from-checkpoint so a crash doesn't cost days; a proper evaluation harness with perplexity and benchmark scores; and quantization so it could run on a phone. Each of these I can explain why it would help.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Citations, the honesty slide. The architecture comes from the Transformer and BPE papers; the whole 'small model on focused data' idea from TinyStories; the scaling recipe from Chinchilla and LLaMA. My main tutorial was Andrej Karpathy's 'Let's build GPT' videos. Seven datasets, all credited. Libraries: PyTorch, Hugging Face datasets, NumPy, tqdm, Streamlit. And critically, I used Claude as an AI assistant for architecture discussions, pseudo-code, code review, debugging, and help with this evaluation and presentation. But I wrote and understand every line of code myself. The rule was: cite it, modify it, understand it, and I did all three.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demo. I'll show the web app live, chatting and the side-by-side compare. The one-line summary of the whole project: I didn't fine-tune someone else's model, I built the tokenizer, the transformer, and the training loop, and watched coherence emerge as I scaled the model 10x. Four models, about 28 exaFLOPs of training on a single gaming GPU, roughly ten-thousand times less compute than GPT-3, but demonstrating every concept that makes GPT-4 work. Thank you, happy to take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23444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MaxGPT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676656" y="26974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Building conversational AI from scratch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85800" y="331012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language models · 23M → 235M parameters · no pretrained weights · no transformers library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" y="4160520"/>
            <a:ext cx="182880" cy="1828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407822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MaxGPT-1  </a:t>
            </a:r>
            <a:pPr algn="l" indent="0" marL="0">
              <a:buNone/>
            </a:pPr>
            <a:r>
              <a:rPr lang="en-US" sz="1300" dirty="0">
                <a:solidFill>
                  <a:srgbClr val="8FA3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23M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74720" y="4160520"/>
            <a:ext cx="182880" cy="1828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3749040" y="407822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MaxGPT-2  </a:t>
            </a:r>
            <a:pPr algn="l" indent="0" marL="0">
              <a:buNone/>
            </a:pPr>
            <a:r>
              <a:rPr lang="en-US" sz="1300" dirty="0">
                <a:solidFill>
                  <a:srgbClr val="8FA3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110M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4160520"/>
            <a:ext cx="182880" cy="1828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0" name="Text 8"/>
          <p:cNvSpPr/>
          <p:nvPr/>
        </p:nvSpPr>
        <p:spPr>
          <a:xfrm>
            <a:off x="6537960" y="407822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MaxGPT-3  </a:t>
            </a:r>
            <a:pPr algn="l" indent="0" marL="0">
              <a:buNone/>
            </a:pPr>
            <a:r>
              <a:rPr lang="en-US" sz="1300" dirty="0">
                <a:solidFill>
                  <a:srgbClr val="8FA3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235M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052560" y="4160520"/>
            <a:ext cx="182880" cy="1828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9326880" y="407822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MaxGPT-3.5  </a:t>
            </a:r>
            <a:pPr algn="l" indent="0" marL="0">
              <a:buNone/>
            </a:pPr>
            <a:r>
              <a:rPr lang="en-US" sz="1300" dirty="0">
                <a:solidFill>
                  <a:srgbClr val="8FA3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SFT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5897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FA3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from-scratch BPE tokenizer  ·  custom transformer  ·  ~28 exaFLOPs of training  ·  one RTX 5070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12064"/>
            <a:ext cx="237744" cy="31089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384048"/>
            <a:ext cx="9418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Purpose: open the black box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607040" y="548640"/>
            <a:ext cx="146304" cy="14630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" name="Shape 3"/>
          <p:cNvSpPr/>
          <p:nvPr/>
        </p:nvSpPr>
        <p:spPr>
          <a:xfrm>
            <a:off x="10899648" y="548640"/>
            <a:ext cx="146304" cy="146304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6" name="Shape 4"/>
          <p:cNvSpPr/>
          <p:nvPr/>
        </p:nvSpPr>
        <p:spPr>
          <a:xfrm>
            <a:off x="11192256" y="548640"/>
            <a:ext cx="146304" cy="146304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7" name="Shape 5"/>
          <p:cNvSpPr/>
          <p:nvPr/>
        </p:nvSpPr>
        <p:spPr>
          <a:xfrm>
            <a:off x="11484864" y="548640"/>
            <a:ext cx="146304" cy="14630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3258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people use ChatGPT as a black box. I wanted to understand how it actually works, by building every piece myself.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2240280"/>
            <a:ext cx="3520440" cy="33832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240280"/>
            <a:ext cx="3520440" cy="640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" y="24688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822960" y="3310128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Understand by building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22960" y="397764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tokenizer, the transformer, and the training loop by hand, every line, no shortcuts, no API calls.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270248" y="2240280"/>
            <a:ext cx="3520440" cy="33832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270248" y="2240280"/>
            <a:ext cx="3520440" cy="6400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6" name="Text 14"/>
          <p:cNvSpPr/>
          <p:nvPr/>
        </p:nvSpPr>
        <p:spPr>
          <a:xfrm>
            <a:off x="4526280" y="24688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4544568" y="3310128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Demonstrate scaling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544568" y="397764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the same architecture 10× (23M → 235M) and watch real capability emerge with scale.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7991856" y="2240280"/>
            <a:ext cx="3520440" cy="33832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991856" y="2240280"/>
            <a:ext cx="3520440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8247888" y="24688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8266176" y="3310128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real chatbot + demo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266176" y="397764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with a usable conversational model and an interactive web app to show it off.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48640" y="6437376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MaxGPT  ·  Max, CS Final Project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155680" y="6437376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12064"/>
            <a:ext cx="237744" cy="31089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384048"/>
            <a:ext cx="9418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AI, and why from scratch?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607040" y="548640"/>
            <a:ext cx="146304" cy="14630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" name="Shape 3"/>
          <p:cNvSpPr/>
          <p:nvPr/>
        </p:nvSpPr>
        <p:spPr>
          <a:xfrm>
            <a:off x="10899648" y="548640"/>
            <a:ext cx="146304" cy="146304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6" name="Shape 4"/>
          <p:cNvSpPr/>
          <p:nvPr/>
        </p:nvSpPr>
        <p:spPr>
          <a:xfrm>
            <a:off x="11192256" y="548640"/>
            <a:ext cx="146304" cy="146304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7" name="Shape 5"/>
          <p:cNvSpPr/>
          <p:nvPr/>
        </p:nvSpPr>
        <p:spPr>
          <a:xfrm>
            <a:off x="11484864" y="548640"/>
            <a:ext cx="146304" cy="14630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463040"/>
            <a:ext cx="5349240" cy="42976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463040"/>
            <a:ext cx="534924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173736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AI?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68680" y="2331720"/>
            <a:ext cx="47548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has no rule-based solution.</a:t>
            </a:r>
            <a:endParaRPr lang="en-US" sz="15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can't hand-write if-then rules for conversation. The only thing that works is a neural network that learns statistical patterns from billions of words.</a:t>
            </a:r>
            <a:endParaRPr lang="en-US" sz="1500" dirty="0"/>
          </a:p>
          <a:p>
            <a:pPr algn="l" indent="0" marL="0">
              <a:spcAft>
                <a:spcPts val="600"/>
              </a:spcAft>
              <a:buNone/>
            </a:pPr>
            <a:endParaRPr lang="en-US" sz="15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Generating coherent text is fundamentally a deep-learning problem, exactly the kind of task AI exists for.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63640" y="1463040"/>
            <a:ext cx="5349240" cy="42976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63640" y="1463040"/>
            <a:ext cx="5349240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0" y="173736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from scratch?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583680" y="2331720"/>
            <a:ext cx="47548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Calling an API hides everything.</a:t>
            </a:r>
            <a:endParaRPr lang="en-US" sz="15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from scratch proves I understand the fundamentals, every architectural decision, every line of code.</a:t>
            </a:r>
            <a:endParaRPr lang="en-US" sz="1500" dirty="0"/>
          </a:p>
          <a:p>
            <a:pPr algn="l" indent="0" marL="0">
              <a:spcAft>
                <a:spcPts val="600"/>
              </a:spcAft>
              <a:buNone/>
            </a:pPr>
            <a:endParaRPr lang="en-US" sz="15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small models are practical: they run locally, cost nothing to serve, and keep data private.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48640" y="6437376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MaxGPT  ·  Max, CS Final Project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155680" y="6437376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12064"/>
            <a:ext cx="237744" cy="31089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384048"/>
            <a:ext cx="9418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Four models · one architecture · 10× scale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607040" y="548640"/>
            <a:ext cx="146304" cy="14630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" name="Shape 3"/>
          <p:cNvSpPr/>
          <p:nvPr/>
        </p:nvSpPr>
        <p:spPr>
          <a:xfrm>
            <a:off x="10899648" y="548640"/>
            <a:ext cx="146304" cy="146304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6" name="Shape 4"/>
          <p:cNvSpPr/>
          <p:nvPr/>
        </p:nvSpPr>
        <p:spPr>
          <a:xfrm>
            <a:off x="11192256" y="548640"/>
            <a:ext cx="146304" cy="146304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7" name="Shape 5"/>
          <p:cNvSpPr/>
          <p:nvPr/>
        </p:nvSpPr>
        <p:spPr>
          <a:xfrm>
            <a:off x="11484864" y="548640"/>
            <a:ext cx="146304" cy="146304"/>
          </a:xfrm>
          <a:prstGeom prst="ellipse">
            <a:avLst/>
          </a:prstGeom>
          <a:solidFill>
            <a:srgbClr val="F59E0B"/>
          </a:solidFill>
          <a:ln/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1051560"/>
                <a:gridCol w="1965960"/>
                <a:gridCol w="1005840"/>
                <a:gridCol w="1417320"/>
                <a:gridCol w="3959352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Model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Params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Architecture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Context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Training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What it demonstrates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5CF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MaxGPT-1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layers × 384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~30 min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Coherent English emerges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MaxGPT-2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layers × 768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~10 hrs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Learns the USER/ASSISTANT chat format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MaxGPT-3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235M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 layers × 1024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~6-7 days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real chatbot, 7-dataset, ~5B-token mix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MaxGPT-3.5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235M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SFT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+~16 hrs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Chat-tuned on assistant responses only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48640" y="5074920"/>
            <a:ext cx="11091672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48640" y="5074920"/>
            <a:ext cx="11091672" cy="6400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507492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23M → 235M params</a:t>
            </a:r>
            <a:pPr algn="ctr" indent="0" marL="0">
              <a:buNone/>
            </a:pPr>
            <a:r>
              <a:rPr lang="en-US" sz="1500" dirty="0">
                <a:solidFill>
                  <a:srgbClr val="8FA3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~5B training tokens      </a:t>
            </a:r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~28 exaFLOPs of compute</a:t>
            </a:r>
            <a:pPr algn="ctr" indent="0" marL="0">
              <a:buNone/>
            </a:pPr>
            <a:r>
              <a:rPr lang="en-US" sz="1500" dirty="0">
                <a:solidFill>
                  <a:srgbClr val="8FA3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all on a single RTX 5070 (12 GB)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48640" y="6437376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MaxGPT  ·  Max, CS Final Project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155680" y="6437376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12064"/>
            <a:ext cx="237744" cy="31089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384048"/>
            <a:ext cx="9418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 1: custom BPE tokenizer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607040" y="548640"/>
            <a:ext cx="146304" cy="14630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" name="Shape 3"/>
          <p:cNvSpPr/>
          <p:nvPr/>
        </p:nvSpPr>
        <p:spPr>
          <a:xfrm>
            <a:off x="10899648" y="548640"/>
            <a:ext cx="146304" cy="146304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6" name="Shape 4"/>
          <p:cNvSpPr/>
          <p:nvPr/>
        </p:nvSpPr>
        <p:spPr>
          <a:xfrm>
            <a:off x="11192256" y="548640"/>
            <a:ext cx="146304" cy="146304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7" name="Shape 5"/>
          <p:cNvSpPr/>
          <p:nvPr/>
        </p:nvSpPr>
        <p:spPr>
          <a:xfrm>
            <a:off x="11484864" y="548640"/>
            <a:ext cx="146304" cy="14630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2801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text into tokens via byte-pair encoding, trained from scratch, 16,000-word vocabulary. My first version took 20+ hours, so I rebuilt it.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1965960"/>
            <a:ext cx="5074920" cy="2788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1965960"/>
            <a:ext cx="5074920" cy="640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1488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 made it fast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22960" y="260604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Doubly-linked list of token positions → O(1) splice when two tokens merge</a:t>
            </a:r>
            <a:endParaRPr lang="en-US" sz="135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Min-heap of (merge-rank, position) → O(log n) to find the next merge</a:t>
            </a:r>
            <a:endParaRPr lang="en-US" sz="135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Per-merge cost drops from O(all tokens) to O(occurrences of that pair)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897880" y="1965960"/>
            <a:ext cx="5742432" cy="2788920"/>
          </a:xfrm>
          <a:prstGeom prst="rect">
            <a:avLst/>
          </a:prstGeom>
          <a:solidFill>
            <a:srgbClr val="0B1120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26480" y="2121408"/>
            <a:ext cx="53949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encode(): merge pairs in learned order
</a:t>
            </a:r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range(n-1):
</a:t>
            </a:r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(t[i],t[i+1]) in self.merges:
</a:t>
            </a:r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heappush(heap,(rank, i))
</a:t>
            </a:r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heap:
</a:t>
            </a:r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rank, pos = heappop(heap)
</a:t>
            </a:r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new_id = rank        # merged token id
</a:t>
            </a:r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tokens[pos] = new_id  # O(1) splice
</a:t>
            </a:r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is_dead[j] = True
</a:t>
            </a:r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push new neighbor pairs
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5029200"/>
            <a:ext cx="5394960" cy="960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5029200"/>
            <a:ext cx="5394960" cy="640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5102352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31×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2651760" y="5102352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tokenizer training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45352" y="5029200"/>
            <a:ext cx="5394960" cy="960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45352" y="5029200"/>
            <a:ext cx="5394960" cy="640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6473952" y="5102352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465×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8348472" y="5102352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encoding (1115s → 2.4s per chunk)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6437376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MaxGPT  ·  Max, CS Final Project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155680" y="6437376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12064"/>
            <a:ext cx="237744" cy="31089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384048"/>
            <a:ext cx="9418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 2: the transformer, by hand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607040" y="548640"/>
            <a:ext cx="146304" cy="14630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" name="Shape 3"/>
          <p:cNvSpPr/>
          <p:nvPr/>
        </p:nvSpPr>
        <p:spPr>
          <a:xfrm>
            <a:off x="10899648" y="548640"/>
            <a:ext cx="146304" cy="146304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6" name="Shape 4"/>
          <p:cNvSpPr/>
          <p:nvPr/>
        </p:nvSpPr>
        <p:spPr>
          <a:xfrm>
            <a:off x="11192256" y="548640"/>
            <a:ext cx="146304" cy="146304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7" name="Shape 5"/>
          <p:cNvSpPr/>
          <p:nvPr/>
        </p:nvSpPr>
        <p:spPr>
          <a:xfrm>
            <a:off x="11484864" y="548640"/>
            <a:ext cx="146304" cy="14630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28016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decoder-only (GPT-style) transformer written from scratch in PyTorch, no nn.Transformer, no pretrained weights.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1920240"/>
            <a:ext cx="6126480" cy="4023360"/>
          </a:xfrm>
          <a:prstGeom prst="rect">
            <a:avLst/>
          </a:prstGeom>
          <a:solidFill>
            <a:srgbClr val="0B1120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7240" y="2103120"/>
            <a:ext cx="576072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multi-head causal self-attention
</a:t>
            </a:r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qkv = self.qkv_proj(x)         # (B,T,3C)
</a:t>
            </a:r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q,k,v = qkv.split(C, dim=-1)
</a:t>
            </a:r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reshape -&gt; (B, heads, T, head_dim)
</a:t>
            </a:r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 = q.view(B,T,nh,hd).transpose(1,2)
</a:t>
            </a:r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scores = (q @ k.transpose(-2,-1)) / sqrt(hd)
</a:t>
            </a:r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scores = scores.masked_fill(
</a:t>
            </a:r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causal_mask==0, -inf)  # no peeking ahead
</a:t>
            </a:r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attn = softmax(scores, dim=-1)
</a:t>
            </a:r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  = attn @ v            # weighted values
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903720" y="1920240"/>
            <a:ext cx="4736592" cy="40233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903720" y="1920240"/>
            <a:ext cx="4736592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7178040" y="212140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 component, built up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178040" y="2606040"/>
            <a:ext cx="42062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Multi-head causal self-attention</a:t>
            </a:r>
            <a:endParaRPr lang="en-US" sz="135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Feed-forward net (GELU, 4× expansion)</a:t>
            </a:r>
            <a:endParaRPr lang="en-US" sz="135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Pre-norm LayerNorm + residual connections</a:t>
            </a:r>
            <a:endParaRPr lang="en-US" sz="135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positional embeddings</a:t>
            </a:r>
            <a:endParaRPr lang="en-US" sz="135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of these blocks stacked (MaxGPT-3)</a:t>
            </a:r>
            <a:endParaRPr lang="en-US" sz="135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bf16 mixed precision + Flash / Efficient attention for speed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48640" y="6437376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MaxGPT  ·  Max, CS Final Project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155680" y="6437376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12064"/>
            <a:ext cx="237744" cy="31089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384048"/>
            <a:ext cx="9418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 3: interactive web app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607040" y="548640"/>
            <a:ext cx="146304" cy="14630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" name="Shape 3"/>
          <p:cNvSpPr/>
          <p:nvPr/>
        </p:nvSpPr>
        <p:spPr>
          <a:xfrm>
            <a:off x="10899648" y="548640"/>
            <a:ext cx="146304" cy="146304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6" name="Shape 4"/>
          <p:cNvSpPr/>
          <p:nvPr/>
        </p:nvSpPr>
        <p:spPr>
          <a:xfrm>
            <a:off x="11192256" y="548640"/>
            <a:ext cx="146304" cy="146304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7" name="Shape 5"/>
          <p:cNvSpPr/>
          <p:nvPr/>
        </p:nvSpPr>
        <p:spPr>
          <a:xfrm>
            <a:off x="11484864" y="548640"/>
            <a:ext cx="146304" cy="14630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417320"/>
            <a:ext cx="5029200" cy="45262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417320"/>
            <a:ext cx="5029200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62763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Streamlit web demo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2960" y="2148840"/>
            <a:ext cx="45720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mode</a:t>
            </a:r>
            <a:endParaRPr lang="en-US" sz="135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to any model with full multi-turn memory.</a:t>
            </a:r>
            <a:endParaRPr lang="en-US" sz="135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mode</a:t>
            </a:r>
            <a:endParaRPr lang="en-US" sz="135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 several models on the same prompt, side by side.</a:t>
            </a:r>
            <a:endParaRPr lang="en-US" sz="135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Token-by-token streaming</a:t>
            </a:r>
            <a:endParaRPr lang="en-US" sz="135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ChatGPT-style “typing” effect, generated live.</a:t>
            </a:r>
            <a:endParaRPr lang="en-US" sz="135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Custom-built</a:t>
            </a:r>
            <a:endParaRPr lang="en-US" sz="135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Import-collision loader runs all 4 models (each has its own config/model/tokenizer) in one app.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760720" y="1481328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FA3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 · “can you give me a recipe for brownies?”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89320" y="2148840"/>
            <a:ext cx="2697480" cy="3566160"/>
          </a:xfrm>
          <a:prstGeom prst="rect">
            <a:avLst/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89320" y="2148840"/>
            <a:ext cx="2697480" cy="6400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5" name="Shape 13"/>
          <p:cNvSpPr/>
          <p:nvPr/>
        </p:nvSpPr>
        <p:spPr>
          <a:xfrm>
            <a:off x="6172200" y="2331720"/>
            <a:ext cx="146304" cy="146304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6" name="Text 14"/>
          <p:cNvSpPr/>
          <p:nvPr/>
        </p:nvSpPr>
        <p:spPr>
          <a:xfrm>
            <a:off x="6373368" y="225856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MaxGPT-3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72200" y="2743200"/>
            <a:ext cx="2331720" cy="128016"/>
          </a:xfrm>
          <a:prstGeom prst="rect">
            <a:avLst/>
          </a:prstGeom>
          <a:solidFill>
            <a:srgbClr val="2B3A52"/>
          </a:solidFill>
          <a:ln/>
        </p:spPr>
      </p:sp>
      <p:sp>
        <p:nvSpPr>
          <p:cNvPr id="18" name="Shape 16"/>
          <p:cNvSpPr/>
          <p:nvPr/>
        </p:nvSpPr>
        <p:spPr>
          <a:xfrm>
            <a:off x="6172200" y="3127248"/>
            <a:ext cx="2103120" cy="128016"/>
          </a:xfrm>
          <a:prstGeom prst="rect">
            <a:avLst/>
          </a:prstGeom>
          <a:solidFill>
            <a:srgbClr val="2B3A52"/>
          </a:solidFill>
          <a:ln/>
        </p:spPr>
      </p:sp>
      <p:sp>
        <p:nvSpPr>
          <p:cNvPr id="19" name="Shape 17"/>
          <p:cNvSpPr/>
          <p:nvPr/>
        </p:nvSpPr>
        <p:spPr>
          <a:xfrm>
            <a:off x="6172200" y="3511296"/>
            <a:ext cx="2377440" cy="128016"/>
          </a:xfrm>
          <a:prstGeom prst="rect">
            <a:avLst/>
          </a:prstGeom>
          <a:solidFill>
            <a:srgbClr val="2B3A52"/>
          </a:solidFill>
          <a:ln/>
        </p:spPr>
      </p:sp>
      <p:sp>
        <p:nvSpPr>
          <p:cNvPr id="20" name="Shape 18"/>
          <p:cNvSpPr/>
          <p:nvPr/>
        </p:nvSpPr>
        <p:spPr>
          <a:xfrm>
            <a:off x="6172200" y="3895344"/>
            <a:ext cx="1645920" cy="128016"/>
          </a:xfrm>
          <a:prstGeom prst="rect">
            <a:avLst/>
          </a:prstGeom>
          <a:solidFill>
            <a:srgbClr val="2B3A52"/>
          </a:solidFill>
          <a:ln/>
        </p:spPr>
      </p:sp>
      <p:sp>
        <p:nvSpPr>
          <p:cNvPr id="21" name="Shape 19"/>
          <p:cNvSpPr/>
          <p:nvPr/>
        </p:nvSpPr>
        <p:spPr>
          <a:xfrm>
            <a:off x="6172200" y="4279392"/>
            <a:ext cx="2194560" cy="128016"/>
          </a:xfrm>
          <a:prstGeom prst="rect">
            <a:avLst/>
          </a:prstGeom>
          <a:solidFill>
            <a:srgbClr val="2B3A52"/>
          </a:solidFill>
          <a:ln/>
        </p:spPr>
      </p:sp>
      <p:sp>
        <p:nvSpPr>
          <p:cNvPr id="22" name="Shape 20"/>
          <p:cNvSpPr/>
          <p:nvPr/>
        </p:nvSpPr>
        <p:spPr>
          <a:xfrm>
            <a:off x="8915400" y="2148840"/>
            <a:ext cx="2697480" cy="3566160"/>
          </a:xfrm>
          <a:prstGeom prst="rect">
            <a:avLst/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915400" y="2148840"/>
            <a:ext cx="2697480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Shape 22"/>
          <p:cNvSpPr/>
          <p:nvPr/>
        </p:nvSpPr>
        <p:spPr>
          <a:xfrm>
            <a:off x="9098280" y="2331720"/>
            <a:ext cx="146304" cy="14630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9299448" y="225856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MaxGPT-3.5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9098280" y="2743200"/>
            <a:ext cx="2331720" cy="128016"/>
          </a:xfrm>
          <a:prstGeom prst="rect">
            <a:avLst/>
          </a:prstGeom>
          <a:solidFill>
            <a:srgbClr val="2B3A52"/>
          </a:solidFill>
          <a:ln/>
        </p:spPr>
      </p:sp>
      <p:sp>
        <p:nvSpPr>
          <p:cNvPr id="27" name="Shape 25"/>
          <p:cNvSpPr/>
          <p:nvPr/>
        </p:nvSpPr>
        <p:spPr>
          <a:xfrm>
            <a:off x="9098280" y="3127248"/>
            <a:ext cx="2103120" cy="128016"/>
          </a:xfrm>
          <a:prstGeom prst="rect">
            <a:avLst/>
          </a:prstGeom>
          <a:solidFill>
            <a:srgbClr val="2B3A52"/>
          </a:solidFill>
          <a:ln/>
        </p:spPr>
      </p:sp>
      <p:sp>
        <p:nvSpPr>
          <p:cNvPr id="28" name="Shape 26"/>
          <p:cNvSpPr/>
          <p:nvPr/>
        </p:nvSpPr>
        <p:spPr>
          <a:xfrm>
            <a:off x="9098280" y="3511296"/>
            <a:ext cx="2377440" cy="128016"/>
          </a:xfrm>
          <a:prstGeom prst="rect">
            <a:avLst/>
          </a:prstGeom>
          <a:solidFill>
            <a:srgbClr val="2B3A52"/>
          </a:solidFill>
          <a:ln/>
        </p:spPr>
      </p:sp>
      <p:sp>
        <p:nvSpPr>
          <p:cNvPr id="29" name="Shape 27"/>
          <p:cNvSpPr/>
          <p:nvPr/>
        </p:nvSpPr>
        <p:spPr>
          <a:xfrm>
            <a:off x="9098280" y="3895344"/>
            <a:ext cx="1645920" cy="128016"/>
          </a:xfrm>
          <a:prstGeom prst="rect">
            <a:avLst/>
          </a:prstGeom>
          <a:solidFill>
            <a:srgbClr val="2B3A52"/>
          </a:solidFill>
          <a:ln/>
        </p:spPr>
      </p:sp>
      <p:sp>
        <p:nvSpPr>
          <p:cNvPr id="30" name="Shape 28"/>
          <p:cNvSpPr/>
          <p:nvPr/>
        </p:nvSpPr>
        <p:spPr>
          <a:xfrm>
            <a:off x="9098280" y="4279392"/>
            <a:ext cx="2194560" cy="128016"/>
          </a:xfrm>
          <a:prstGeom prst="rect">
            <a:avLst/>
          </a:prstGeom>
          <a:solidFill>
            <a:srgbClr val="2B3A52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6437376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MaxGPT  ·  Max, CS Final Project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155680" y="6437376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12064"/>
            <a:ext cx="237744" cy="31089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384048"/>
            <a:ext cx="9418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prompt, the whole story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607040" y="548640"/>
            <a:ext cx="146304" cy="14630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" name="Shape 3"/>
          <p:cNvSpPr/>
          <p:nvPr/>
        </p:nvSpPr>
        <p:spPr>
          <a:xfrm>
            <a:off x="10899648" y="548640"/>
            <a:ext cx="146304" cy="146304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6" name="Shape 4"/>
          <p:cNvSpPr/>
          <p:nvPr/>
        </p:nvSpPr>
        <p:spPr>
          <a:xfrm>
            <a:off x="11192256" y="548640"/>
            <a:ext cx="146304" cy="146304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7" name="Shape 5"/>
          <p:cNvSpPr/>
          <p:nvPr/>
        </p:nvSpPr>
        <p:spPr>
          <a:xfrm>
            <a:off x="11484864" y="548640"/>
            <a:ext cx="146304" cy="14630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2801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FA3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“can you give me a recipe for brownies?”  ·  the same prompt through all four models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1783080"/>
            <a:ext cx="5532120" cy="199339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1783080"/>
            <a:ext cx="5532120" cy="640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Shape 9"/>
          <p:cNvSpPr/>
          <p:nvPr/>
        </p:nvSpPr>
        <p:spPr>
          <a:xfrm>
            <a:off x="777240" y="2020824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194767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MaxGPT-1 · 23M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95528" y="2350008"/>
            <a:ext cx="5074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“my Kitchen Solyn, Iraq laid the Rocky Processory Picky…”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95528" y="3264408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salad, can't form a coherent thought.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81928" y="1783080"/>
            <a:ext cx="5532120" cy="199339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81928" y="1783080"/>
            <a:ext cx="553212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7" name="Shape 15"/>
          <p:cNvSpPr/>
          <p:nvPr/>
        </p:nvSpPr>
        <p:spPr>
          <a:xfrm>
            <a:off x="6510528" y="2020824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6739128" y="194767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MaxGPT-2 · 110M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28816" y="2350008"/>
            <a:ext cx="5074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“…stuffing a loaf with brown rice, brown tofu… Can I substitute brownies with brownies?”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28816" y="3264408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Fluent + recipe-shaped, but nonsense, and bleeds the training format.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3904488"/>
            <a:ext cx="5532120" cy="199339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8640" y="3904488"/>
            <a:ext cx="5532120" cy="6400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3" name="Shape 21"/>
          <p:cNvSpPr/>
          <p:nvPr/>
        </p:nvSpPr>
        <p:spPr>
          <a:xfrm>
            <a:off x="777240" y="4142232"/>
            <a:ext cx="164592" cy="164592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4" name="Text 22"/>
          <p:cNvSpPr/>
          <p:nvPr/>
        </p:nvSpPr>
        <p:spPr>
          <a:xfrm>
            <a:off x="1005840" y="40690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MaxGPT-3 · 235M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95528" y="4471416"/>
            <a:ext cx="5074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“To make a classic French herb-and-butter étouffée, you'll need a crusty French pasta…”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95528" y="5385816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recipe format, just the wrong dish. Coherent, off-topic.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281928" y="3904488"/>
            <a:ext cx="5532120" cy="199339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281928" y="3904488"/>
            <a:ext cx="5532120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9" name="Shape 27"/>
          <p:cNvSpPr/>
          <p:nvPr/>
        </p:nvSpPr>
        <p:spPr>
          <a:xfrm>
            <a:off x="6510528" y="4142232"/>
            <a:ext cx="164592" cy="16459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0" name="Text 28"/>
          <p:cNvSpPr/>
          <p:nvPr/>
        </p:nvSpPr>
        <p:spPr>
          <a:xfrm>
            <a:off x="6739128" y="40690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MaxGPT-3.5 · SFT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528816" y="4471416"/>
            <a:ext cx="5074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“A classic quinoa brownies! Ingredients: butter, sugar, salt… Enjoy this classic flavor of brownies!”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528816" y="5385816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format, stays on brownies. (Ingredients still absurd.)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48640" y="6437376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MaxGPT  ·  Max, CS Final Project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155680" y="6437376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12064"/>
            <a:ext cx="237744" cy="31089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384048"/>
            <a:ext cx="9418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Going further: fine-tuning + a real evaluation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607040" y="548640"/>
            <a:ext cx="146304" cy="14630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" name="Shape 3"/>
          <p:cNvSpPr/>
          <p:nvPr/>
        </p:nvSpPr>
        <p:spPr>
          <a:xfrm>
            <a:off x="10899648" y="548640"/>
            <a:ext cx="146304" cy="146304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6" name="Shape 4"/>
          <p:cNvSpPr/>
          <p:nvPr/>
        </p:nvSpPr>
        <p:spPr>
          <a:xfrm>
            <a:off x="11192256" y="548640"/>
            <a:ext cx="146304" cy="146304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7" name="Shape 5"/>
          <p:cNvSpPr/>
          <p:nvPr/>
        </p:nvSpPr>
        <p:spPr>
          <a:xfrm>
            <a:off x="11484864" y="548640"/>
            <a:ext cx="146304" cy="14630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417320"/>
            <a:ext cx="5257800" cy="45262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417320"/>
            <a:ext cx="5257800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6002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Supervised fine-tuning (SFT)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22960" y="21031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training MaxGPT-3 on chat-only data, with the loss </a:t>
            </a:r>
            <a:pPr algn="l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masked to the assistant's tokens</a:t>
            </a:r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so it only learns to reply, not to imitate the user. → MaxGPT-3.5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34290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 evaluated it (the honest part)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2960" y="3840480"/>
            <a:ext cx="4754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Blind, multi-sample scoring across 5 checkpoints</a:t>
            </a:r>
            <a:endParaRPr lang="en-US" sz="13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Single-turn and multi-turn tests, scored on a fixed rubric</a:t>
            </a:r>
            <a:endParaRPr lang="en-US" sz="13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Finding: SFT specialized the model, big wins in reference-resolution + assistant behavior, but more verbose. A measured trade-off, not a pure upgrade.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26480" y="1417320"/>
            <a:ext cx="5513832" cy="45262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55080" y="16002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Cross-turn reference resolution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55080" y="196596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adopted a puppy named Rex … what should I feed HIM?”  ·  % that correctly used the earlier turn</a:t>
            </a:r>
            <a:endParaRPr lang="en-US" sz="12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6355080" y="2514600"/>
          <a:ext cx="50749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8" name="Text 15"/>
          <p:cNvSpPr/>
          <p:nvPr/>
        </p:nvSpPr>
        <p:spPr>
          <a:xfrm>
            <a:off x="548640" y="6437376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MaxGPT  ·  Max, CS Final Project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155680" y="6437376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12064"/>
            <a:ext cx="237744" cy="31089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384048"/>
            <a:ext cx="9418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Challenges I had to solve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607040" y="548640"/>
            <a:ext cx="146304" cy="14630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" name="Shape 3"/>
          <p:cNvSpPr/>
          <p:nvPr/>
        </p:nvSpPr>
        <p:spPr>
          <a:xfrm>
            <a:off x="10899648" y="548640"/>
            <a:ext cx="146304" cy="146304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6" name="Shape 4"/>
          <p:cNvSpPr/>
          <p:nvPr/>
        </p:nvSpPr>
        <p:spPr>
          <a:xfrm>
            <a:off x="11192256" y="548640"/>
            <a:ext cx="146304" cy="146304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7" name="Shape 5"/>
          <p:cNvSpPr/>
          <p:nvPr/>
        </p:nvSpPr>
        <p:spPr>
          <a:xfrm>
            <a:off x="11484864" y="548640"/>
            <a:ext cx="146304" cy="14630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463040"/>
            <a:ext cx="5532120" cy="2103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463040"/>
            <a:ext cx="553212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804672" y="166420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Flash Attention missing on my GPU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804672" y="2212848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Windows PyTorch wheel had no Flash-Attention kernels for my Blackwell card. I wrote a diagnostic, forced the Efficient-Attention backend, then moved training to WSL2 (Linux) for real Flash Attention 2.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81928" y="1463040"/>
            <a:ext cx="5532120" cy="2103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81928" y="1463040"/>
            <a:ext cx="5532120" cy="640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6537960" y="166420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silent data-split bug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537960" y="2212848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dataset landed entirely in the validation set, so the model trained on only one source and produced gibberish on chat. Fix: split each dataset 90/10 separately, then combine.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703320"/>
            <a:ext cx="5532120" cy="2103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3703320"/>
            <a:ext cx="5532120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804672" y="390448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 of tokens masked (SFT)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804672" y="4453128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Byte-pair merges absorbed my role-marker tokens, so the mask matched nothing. Fix: search for markers at the byte level after decoding, not at the token level.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81928" y="3703320"/>
            <a:ext cx="5532120" cy="2103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81928" y="3703320"/>
            <a:ext cx="5532120" cy="6400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2" name="Text 20"/>
          <p:cNvSpPr/>
          <p:nvPr/>
        </p:nvSpPr>
        <p:spPr>
          <a:xfrm>
            <a:off x="6537960" y="390448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 GB VRAM ceiling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6537960" y="4453128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 the checkpoint + optimizer state overflowed the GPU. Fix: load to CPU first, then move only the weights. Added a repetition penalty to kill output loops.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48640" y="6437376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MaxGPT  ·  Max, CS Final Project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155680" y="6437376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12064"/>
            <a:ext cx="237744" cy="31089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384048"/>
            <a:ext cx="9418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If I built version 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607040" y="548640"/>
            <a:ext cx="146304" cy="14630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" name="Shape 3"/>
          <p:cNvSpPr/>
          <p:nvPr/>
        </p:nvSpPr>
        <p:spPr>
          <a:xfrm>
            <a:off x="10899648" y="548640"/>
            <a:ext cx="146304" cy="146304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6" name="Shape 4"/>
          <p:cNvSpPr/>
          <p:nvPr/>
        </p:nvSpPr>
        <p:spPr>
          <a:xfrm>
            <a:off x="11192256" y="548640"/>
            <a:ext cx="146304" cy="146304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7" name="Shape 5"/>
          <p:cNvSpPr/>
          <p:nvPr/>
        </p:nvSpPr>
        <p:spPr>
          <a:xfrm>
            <a:off x="11484864" y="548640"/>
            <a:ext cx="146304" cy="14630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508760"/>
            <a:ext cx="5532120" cy="13258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508760"/>
            <a:ext cx="5532120" cy="6400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0" name="Shape 8"/>
          <p:cNvSpPr/>
          <p:nvPr/>
        </p:nvSpPr>
        <p:spPr>
          <a:xfrm>
            <a:off x="786384" y="1764792"/>
            <a:ext cx="182880" cy="1828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1" name="Text 9"/>
          <p:cNvSpPr/>
          <p:nvPr/>
        </p:nvSpPr>
        <p:spPr>
          <a:xfrm>
            <a:off x="1078992" y="16916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Bigger vocabulary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78992" y="2112264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32K-50K tokens so each token carries more meaning.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81928" y="1508760"/>
            <a:ext cx="5532120" cy="13258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81928" y="1508760"/>
            <a:ext cx="553212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5" name="Shape 13"/>
          <p:cNvSpPr/>
          <p:nvPr/>
        </p:nvSpPr>
        <p:spPr>
          <a:xfrm>
            <a:off x="6519672" y="1764792"/>
            <a:ext cx="182880" cy="1828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6812280" y="16916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Modern architecture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812280" y="2112264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RMSNorm + SwiGLU + RoPE (the LLaMA-style upgrades).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2990088"/>
            <a:ext cx="5532120" cy="13258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2990088"/>
            <a:ext cx="5532120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Shape 18"/>
          <p:cNvSpPr/>
          <p:nvPr/>
        </p:nvSpPr>
        <p:spPr>
          <a:xfrm>
            <a:off x="786384" y="3246120"/>
            <a:ext cx="182880" cy="1828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1078992" y="317296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Cleaner fine-tuning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78992" y="3593592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 the chat data + replay pre-train text to keep base strengths.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281928" y="2990088"/>
            <a:ext cx="5532120" cy="13258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81928" y="2990088"/>
            <a:ext cx="5532120" cy="640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5" name="Shape 23"/>
          <p:cNvSpPr/>
          <p:nvPr/>
        </p:nvSpPr>
        <p:spPr>
          <a:xfrm>
            <a:off x="6519672" y="3246120"/>
            <a:ext cx="182880" cy="1828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6812280" y="317296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Resume-from-checkpoint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812280" y="3593592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 training mid-run after a crash, this bit me once.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4471416"/>
            <a:ext cx="5532120" cy="13258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48640" y="4471416"/>
            <a:ext cx="5532120" cy="6400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0" name="Shape 28"/>
          <p:cNvSpPr/>
          <p:nvPr/>
        </p:nvSpPr>
        <p:spPr>
          <a:xfrm>
            <a:off x="786384" y="4727448"/>
            <a:ext cx="182880" cy="1828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1" name="Text 29"/>
          <p:cNvSpPr/>
          <p:nvPr/>
        </p:nvSpPr>
        <p:spPr>
          <a:xfrm>
            <a:off x="1078992" y="465429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 eval harness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078992" y="5074920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 + MMLU-lite benchmarks, not just sample prompts.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281928" y="4471416"/>
            <a:ext cx="5532120" cy="13258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281928" y="4471416"/>
            <a:ext cx="5532120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5" name="Shape 33"/>
          <p:cNvSpPr/>
          <p:nvPr/>
        </p:nvSpPr>
        <p:spPr>
          <a:xfrm>
            <a:off x="6519672" y="4727448"/>
            <a:ext cx="182880" cy="1828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6" name="Text 34"/>
          <p:cNvSpPr/>
          <p:nvPr/>
        </p:nvSpPr>
        <p:spPr>
          <a:xfrm>
            <a:off x="6812280" y="465429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Quantization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6812280" y="5074920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int8/int4 weights so it could run on a phone.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548640" y="6437376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MaxGPT  ·  Max, CS Final Project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155680" y="6437376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12064"/>
            <a:ext cx="237744" cy="31089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384048"/>
            <a:ext cx="9418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Citations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607040" y="548640"/>
            <a:ext cx="146304" cy="14630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" name="Shape 3"/>
          <p:cNvSpPr/>
          <p:nvPr/>
        </p:nvSpPr>
        <p:spPr>
          <a:xfrm>
            <a:off x="10899648" y="548640"/>
            <a:ext cx="146304" cy="146304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6" name="Shape 4"/>
          <p:cNvSpPr/>
          <p:nvPr/>
        </p:nvSpPr>
        <p:spPr>
          <a:xfrm>
            <a:off x="11192256" y="548640"/>
            <a:ext cx="146304" cy="146304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7" name="Shape 5"/>
          <p:cNvSpPr/>
          <p:nvPr/>
        </p:nvSpPr>
        <p:spPr>
          <a:xfrm>
            <a:off x="11484864" y="548640"/>
            <a:ext cx="146304" cy="14630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280160"/>
            <a:ext cx="5440680" cy="19659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280160"/>
            <a:ext cx="544068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3716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Papers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1783080"/>
            <a:ext cx="5349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Vaswani et al. 2017, Transformers (“Attention Is All You Need”)</a:t>
            </a:r>
            <a:endParaRPr lang="en-US" sz="115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Sennrich et al. 2016, BPE subword tokenization</a:t>
            </a:r>
            <a:endParaRPr lang="en-US" sz="115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Eldan &amp; Li 2023, TinyStories</a:t>
            </a:r>
            <a:endParaRPr lang="en-US" sz="115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Hoffmann 2022, Chinchilla scaling; Touvron 2023, LLaMA; Dao 2022, FlashAttention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99632" y="1280160"/>
            <a:ext cx="5440680" cy="19659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99632" y="1280160"/>
            <a:ext cx="5440680" cy="640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6473952" y="13716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Tutorials &amp; datasets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73952" y="1783080"/>
            <a:ext cx="5349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Andrej Karpathy, “Let's build GPT” &amp; “GPT Tokenizer”, nanoGPT</a:t>
            </a:r>
            <a:endParaRPr lang="en-US" sz="115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Datasets: TinyStories, OASST1/2, UltraChat,</a:t>
            </a:r>
            <a:endParaRPr lang="en-US" sz="115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Cosmopedia v2, OpenOrca, WildChat-1M, HH-RLHF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429000"/>
            <a:ext cx="5440680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3429000"/>
            <a:ext cx="5440680" cy="6400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52044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Libraries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22960" y="3886200"/>
            <a:ext cx="5349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 ·  Hugging Face datasets  ·  NumPy  ·  tqdm  ·  Streamlit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199632" y="3429000"/>
            <a:ext cx="5440680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99632" y="3429000"/>
            <a:ext cx="5440680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6473952" y="352044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assistance (Claude)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73952" y="3840480"/>
            <a:ext cx="5074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discussions, pseudo-code, code review, debugging help, and assistance with this evaluation &amp; presentation. I wrote and understand every line of the model, tokenizer, and training code.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640" y="52120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FA3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Rule followed: cite all AI use, modify the code to make it my own, and understand everything I submit.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6437376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MaxGPT  ·  Max, CS Final Project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155680" y="6437376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676656" y="169164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 the browser, chat with any model, or race them in compare mode and watch the quality jump.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2468880"/>
            <a:ext cx="11091672" cy="17830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2468880"/>
            <a:ext cx="11091672" cy="6400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697480"/>
            <a:ext cx="10332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“I didn't fine-tune someone else's model. I built the tokenizer, the transformer, and the training loop, and watched coherence emerge as I scaled from 23M to 235M parameters.”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66928" y="457200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 models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566928" y="532180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23M to 235M params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297680" y="457200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~28 exaFLOPs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4297680" y="532180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training, on one gaming GPU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138160" y="457200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~10,000×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8138160" y="532180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compute than GPT-3 used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6437376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MaxGPT  ·  Max, CS Final Project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155680" y="6437376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MaxGPT: Building Conversational AI From Scratch</dc:title>
  <dc:subject>PptxGenJS Presentation</dc:subject>
  <dc:creator>Max</dc:creator>
  <cp:lastModifiedBy>Max</cp:lastModifiedBy>
  <cp:revision>1</cp:revision>
  <dcterms:created xsi:type="dcterms:W3CDTF">2026-05-29T12:40:42Z</dcterms:created>
  <dcterms:modified xsi:type="dcterms:W3CDTF">2026-05-29T12:40:42Z</dcterms:modified>
</cp:coreProperties>
</file>